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9" r:id="rId7"/>
    <p:sldId id="261" r:id="rId8"/>
    <p:sldId id="262" r:id="rId9"/>
    <p:sldId id="263" r:id="rId10"/>
    <p:sldId id="270" r:id="rId11"/>
    <p:sldId id="273" r:id="rId12"/>
    <p:sldId id="271" r:id="rId13"/>
    <p:sldId id="265" r:id="rId14"/>
    <p:sldId id="272" r:id="rId15"/>
    <p:sldId id="277" r:id="rId16"/>
    <p:sldId id="275" r:id="rId17"/>
    <p:sldId id="276" r:id="rId18"/>
    <p:sldId id="266" r:id="rId19"/>
    <p:sldId id="278" r:id="rId20"/>
    <p:sldId id="279" r:id="rId21"/>
    <p:sldId id="267" r:id="rId22"/>
    <p:sldId id="280" r:id="rId23"/>
    <p:sldId id="25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4/23/2026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4/23/2026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4/23/2026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4/23/2026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4/23/2026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4/23/2026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4/23/2026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4/23/2026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4/23/2026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4/23/2026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4/23/2026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4/23/2026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bing.com/ck/a?!&amp;&amp;p=fae99ed2e40f0a36c2b424f2754050bee595afa94b29f82687acffe7bb518e6fJmltdHM9MTc3NjkwMjQwMA&amp;ptn=3&amp;ver=2&amp;hsh=4&amp;fclid=1d3e865b-0a02-6161-2aa8-90af0ba160e7&amp;u=a1aHR0cHM6Ly93d3cuc2FsZWhvby5jb20vbGVhcm4vdG9wLW9ubGluZS1zaG9wcGluZy1jYXRlZ29yaWVz&amp;ntb=1"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001208" y="639097"/>
            <a:ext cx="6541863" cy="3686015"/>
          </a:xfrm>
        </p:spPr>
        <p:txBody>
          <a:bodyPr>
            <a:normAutofit fontScale="90000"/>
          </a:bodyPr>
          <a:lstStyle/>
          <a:p>
            <a:r>
              <a:rPr lang="en-ZA" sz="6600" dirty="0"/>
              <a:t>Pick ‘n Pay</a:t>
            </a:r>
            <a:br>
              <a:rPr lang="en-ZA" sz="6600" dirty="0"/>
            </a:br>
            <a:r>
              <a:rPr lang="en-ZA" sz="6600" dirty="0"/>
              <a:t>Retail Sales: Revenue Optimization </a:t>
            </a:r>
            <a:endParaRPr lang="en-US" sz="66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lnSpcReduction="10000"/>
          </a:bodyPr>
          <a:lstStyle/>
          <a:p>
            <a:r>
              <a:rPr lang="en-US" dirty="0">
                <a:solidFill>
                  <a:schemeClr val="tx1">
                    <a:lumMod val="85000"/>
                    <a:lumOff val="15000"/>
                  </a:schemeClr>
                </a:solidFill>
              </a:rPr>
              <a:t>By Siyabonga Mofokeng</a:t>
            </a:r>
          </a:p>
          <a:p>
            <a:r>
              <a:rPr lang="en-US" sz="2400" dirty="0">
                <a:solidFill>
                  <a:schemeClr val="tx1">
                    <a:lumMod val="85000"/>
                    <a:lumOff val="15000"/>
                  </a:schemeClr>
                </a:solidFill>
              </a:rPr>
              <a:t>22 April 2026</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rge building with many floors and many people&#10;&#10;AI-generated content may be incorrect.">
            <a:extLst>
              <a:ext uri="{FF2B5EF4-FFF2-40B4-BE49-F238E27FC236}">
                <a16:creationId xmlns:a16="http://schemas.microsoft.com/office/drawing/2014/main" id="{BB1EA93E-DCA9-BE79-422E-BE249D650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635314" cy="6858000"/>
          </a:xfrm>
          <a:prstGeom prst="rect">
            <a:avLst/>
          </a:prstGeom>
        </p:spPr>
      </p:pic>
      <p:sp>
        <p:nvSpPr>
          <p:cNvPr id="4" name="TextBox 3">
            <a:extLst>
              <a:ext uri="{FF2B5EF4-FFF2-40B4-BE49-F238E27FC236}">
                <a16:creationId xmlns:a16="http://schemas.microsoft.com/office/drawing/2014/main" id="{9CB91C8C-E90E-E063-77C2-438B9C3C62A2}"/>
              </a:ext>
            </a:extLst>
          </p:cNvPr>
          <p:cNvSpPr txBox="1"/>
          <p:nvPr/>
        </p:nvSpPr>
        <p:spPr>
          <a:xfrm>
            <a:off x="7977673" y="6246984"/>
            <a:ext cx="4068147" cy="523220"/>
          </a:xfrm>
          <a:prstGeom prst="rect">
            <a:avLst/>
          </a:prstGeom>
          <a:noFill/>
        </p:spPr>
        <p:txBody>
          <a:bodyPr wrap="square" rtlCol="0">
            <a:spAutoFit/>
          </a:bodyPr>
          <a:lstStyle/>
          <a:p>
            <a:r>
              <a:rPr lang="en-ZA" dirty="0"/>
              <a:t>*</a:t>
            </a:r>
            <a:r>
              <a:rPr lang="en-ZA" sz="1000" dirty="0"/>
              <a:t>The use of the franchise name Pick ‘n Pay is only for project completion and not a direct representative of sales performance</a:t>
            </a:r>
          </a:p>
        </p:txBody>
      </p:sp>
    </p:spTree>
    <p:extLst>
      <p:ext uri="{BB962C8B-B14F-4D97-AF65-F5344CB8AC3E}">
        <p14:creationId xmlns:p14="http://schemas.microsoft.com/office/powerpoint/2010/main" val="4043737824"/>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B0F9E-5E2E-A380-E28D-B0EC3BA64AD0}"/>
              </a:ext>
            </a:extLst>
          </p:cNvPr>
          <p:cNvSpPr>
            <a:spLocks noGrp="1"/>
          </p:cNvSpPr>
          <p:nvPr>
            <p:ph type="title"/>
          </p:nvPr>
        </p:nvSpPr>
        <p:spPr/>
        <p:txBody>
          <a:bodyPr/>
          <a:lstStyle/>
          <a:p>
            <a:r>
              <a:rPr lang="en-ZA" dirty="0"/>
              <a:t>Index:</a:t>
            </a:r>
          </a:p>
        </p:txBody>
      </p:sp>
      <p:sp>
        <p:nvSpPr>
          <p:cNvPr id="3" name="Content Placeholder 2">
            <a:extLst>
              <a:ext uri="{FF2B5EF4-FFF2-40B4-BE49-F238E27FC236}">
                <a16:creationId xmlns:a16="http://schemas.microsoft.com/office/drawing/2014/main" id="{530D377A-CE07-EF57-981A-9AF55FFE4D28}"/>
              </a:ext>
            </a:extLst>
          </p:cNvPr>
          <p:cNvSpPr>
            <a:spLocks noGrp="1"/>
          </p:cNvSpPr>
          <p:nvPr>
            <p:ph idx="1"/>
          </p:nvPr>
        </p:nvSpPr>
        <p:spPr/>
        <p:txBody>
          <a:bodyPr>
            <a:normAutofit lnSpcReduction="10000"/>
          </a:bodyPr>
          <a:lstStyle/>
          <a:p>
            <a:r>
              <a:rPr lang="en-ZA" dirty="0"/>
              <a:t>1. Executive Summary</a:t>
            </a:r>
          </a:p>
          <a:p>
            <a:r>
              <a:rPr lang="en-ZA" dirty="0"/>
              <a:t>2. Introduction</a:t>
            </a:r>
          </a:p>
          <a:p>
            <a:r>
              <a:rPr lang="en-ZA" dirty="0"/>
              <a:t>3. Methodology</a:t>
            </a:r>
          </a:p>
          <a:p>
            <a:r>
              <a:rPr lang="en-ZA" dirty="0"/>
              <a:t>4. Results</a:t>
            </a:r>
          </a:p>
          <a:p>
            <a:r>
              <a:rPr lang="en-ZA" dirty="0"/>
              <a:t>5.Dashboard </a:t>
            </a:r>
          </a:p>
          <a:p>
            <a:pPr marL="0" indent="0">
              <a:buNone/>
            </a:pPr>
            <a:r>
              <a:rPr lang="en-ZA" dirty="0"/>
              <a:t> 6. Discussion</a:t>
            </a:r>
          </a:p>
          <a:p>
            <a:r>
              <a:rPr lang="en-ZA" dirty="0"/>
              <a:t>7.Conclusion</a:t>
            </a:r>
          </a:p>
          <a:p>
            <a:pPr marL="0" indent="0">
              <a:buNone/>
            </a:pPr>
            <a:r>
              <a:rPr lang="en-ZA" dirty="0"/>
              <a:t>  </a:t>
            </a:r>
          </a:p>
        </p:txBody>
      </p:sp>
    </p:spTree>
    <p:extLst>
      <p:ext uri="{BB962C8B-B14F-4D97-AF65-F5344CB8AC3E}">
        <p14:creationId xmlns:p14="http://schemas.microsoft.com/office/powerpoint/2010/main" val="1410852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AC884-022A-02E2-D979-2A5D177095A4}"/>
              </a:ext>
            </a:extLst>
          </p:cNvPr>
          <p:cNvSpPr>
            <a:spLocks noGrp="1"/>
          </p:cNvSpPr>
          <p:nvPr>
            <p:ph type="title"/>
          </p:nvPr>
        </p:nvSpPr>
        <p:spPr/>
        <p:txBody>
          <a:bodyPr/>
          <a:lstStyle/>
          <a:p>
            <a:r>
              <a:rPr lang="en-ZA" dirty="0"/>
              <a:t>1.Executive Summary</a:t>
            </a:r>
          </a:p>
        </p:txBody>
      </p:sp>
      <p:sp>
        <p:nvSpPr>
          <p:cNvPr id="3" name="Content Placeholder 2">
            <a:extLst>
              <a:ext uri="{FF2B5EF4-FFF2-40B4-BE49-F238E27FC236}">
                <a16:creationId xmlns:a16="http://schemas.microsoft.com/office/drawing/2014/main" id="{700F98AE-F530-8DBF-D5F2-6646B522D7C3}"/>
              </a:ext>
            </a:extLst>
          </p:cNvPr>
          <p:cNvSpPr>
            <a:spLocks noGrp="1"/>
          </p:cNvSpPr>
          <p:nvPr>
            <p:ph idx="1"/>
          </p:nvPr>
        </p:nvSpPr>
        <p:spPr/>
        <p:txBody>
          <a:bodyPr/>
          <a:lstStyle/>
          <a:p>
            <a:r>
              <a:rPr lang="en-ZA" i="1" dirty="0"/>
              <a:t>Pick ‘n Pay, which is a South African retail franchise focused on family-friendly products. They have supplied us with the annual gross product category income for the year 2023. I have been tasked to analyse the performance of product categories.</a:t>
            </a:r>
          </a:p>
          <a:p>
            <a:r>
              <a:rPr lang="en-ZA" dirty="0"/>
              <a:t>I’ll be digging deep into :</a:t>
            </a:r>
          </a:p>
          <a:p>
            <a:r>
              <a:rPr lang="en-ZA" dirty="0"/>
              <a:t>- </a:t>
            </a:r>
            <a:r>
              <a:rPr lang="en-ZA" i="1" dirty="0"/>
              <a:t>Annual product performance </a:t>
            </a:r>
          </a:p>
          <a:p>
            <a:r>
              <a:rPr lang="en-ZA" i="1" dirty="0"/>
              <a:t>- Gender revenue contribution</a:t>
            </a:r>
          </a:p>
          <a:p>
            <a:r>
              <a:rPr lang="en-ZA" i="1" dirty="0"/>
              <a:t>- </a:t>
            </a:r>
            <a:r>
              <a:rPr lang="en-ZA" sz="2000" i="1" dirty="0"/>
              <a:t>Product Quantity by Day of the Week </a:t>
            </a:r>
          </a:p>
          <a:p>
            <a:r>
              <a:rPr lang="en-ZA" sz="2000" i="1" dirty="0"/>
              <a:t>- Customer Demographic Analysis</a:t>
            </a:r>
          </a:p>
          <a:p>
            <a:endParaRPr lang="en-ZA" sz="2000" dirty="0"/>
          </a:p>
          <a:p>
            <a:pPr marL="0" indent="0">
              <a:buNone/>
            </a:pPr>
            <a:endParaRPr lang="en-ZA" dirty="0"/>
          </a:p>
        </p:txBody>
      </p:sp>
    </p:spTree>
    <p:extLst>
      <p:ext uri="{BB962C8B-B14F-4D97-AF65-F5344CB8AC3E}">
        <p14:creationId xmlns:p14="http://schemas.microsoft.com/office/powerpoint/2010/main" val="3210502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F8A09-2AE7-DE4D-9662-47C4B90315D1}"/>
              </a:ext>
            </a:extLst>
          </p:cNvPr>
          <p:cNvSpPr>
            <a:spLocks noGrp="1"/>
          </p:cNvSpPr>
          <p:nvPr>
            <p:ph type="title"/>
          </p:nvPr>
        </p:nvSpPr>
        <p:spPr/>
        <p:txBody>
          <a:bodyPr/>
          <a:lstStyle/>
          <a:p>
            <a:r>
              <a:rPr lang="en-ZA" dirty="0"/>
              <a:t>2.Introduction</a:t>
            </a:r>
          </a:p>
        </p:txBody>
      </p:sp>
      <p:sp>
        <p:nvSpPr>
          <p:cNvPr id="3" name="Content Placeholder 2">
            <a:extLst>
              <a:ext uri="{FF2B5EF4-FFF2-40B4-BE49-F238E27FC236}">
                <a16:creationId xmlns:a16="http://schemas.microsoft.com/office/drawing/2014/main" id="{043A650E-CFF2-F86C-2277-FC49C7B64D0D}"/>
              </a:ext>
            </a:extLst>
          </p:cNvPr>
          <p:cNvSpPr>
            <a:spLocks noGrp="1"/>
          </p:cNvSpPr>
          <p:nvPr>
            <p:ph idx="1"/>
          </p:nvPr>
        </p:nvSpPr>
        <p:spPr/>
        <p:txBody>
          <a:bodyPr>
            <a:normAutofit lnSpcReduction="10000"/>
          </a:bodyPr>
          <a:lstStyle/>
          <a:p>
            <a:r>
              <a:rPr lang="en-ZA" sz="2000" b="1" dirty="0"/>
              <a:t>Purpose</a:t>
            </a:r>
          </a:p>
          <a:p>
            <a:r>
              <a:rPr lang="en-ZA" i="1" dirty="0"/>
              <a:t>This report was compiled to analyse product category performance for Pick ‘n Pay, which focuses on selling clothing, beauty, and electronic products to its customers. I desired to find out which product categories are underperforming and how we can increase revenue.</a:t>
            </a:r>
          </a:p>
          <a:p>
            <a:r>
              <a:rPr lang="en-ZA" sz="2000" b="1" dirty="0"/>
              <a:t>Target point</a:t>
            </a:r>
          </a:p>
          <a:p>
            <a:pPr marL="0" indent="0">
              <a:buNone/>
            </a:pPr>
            <a:r>
              <a:rPr lang="en-ZA" sz="2000" dirty="0"/>
              <a:t> </a:t>
            </a:r>
            <a:r>
              <a:rPr lang="en-ZA" sz="2000" i="1" dirty="0"/>
              <a:t>The inconsistent product performance for Pick ‘n Pay</a:t>
            </a:r>
          </a:p>
          <a:p>
            <a:pPr marL="0" indent="0">
              <a:buNone/>
            </a:pPr>
            <a:r>
              <a:rPr lang="en-ZA" sz="2000" b="1" dirty="0"/>
              <a:t> Value of the analyst</a:t>
            </a:r>
          </a:p>
          <a:p>
            <a:r>
              <a:rPr lang="en-ZA" sz="2000" i="1" dirty="0"/>
              <a:t>This report will inform retail store managers at Pick ’n Pay about the potential ways to increase revenue and stop all negative forces hindering revenue.</a:t>
            </a:r>
          </a:p>
          <a:p>
            <a:endParaRPr lang="en-ZA" sz="2000" dirty="0"/>
          </a:p>
        </p:txBody>
      </p:sp>
    </p:spTree>
    <p:extLst>
      <p:ext uri="{BB962C8B-B14F-4D97-AF65-F5344CB8AC3E}">
        <p14:creationId xmlns:p14="http://schemas.microsoft.com/office/powerpoint/2010/main" val="1515981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E8DE6-D79D-DBF4-9BA0-C909AC87D64D}"/>
              </a:ext>
            </a:extLst>
          </p:cNvPr>
          <p:cNvSpPr>
            <a:spLocks noGrp="1"/>
          </p:cNvSpPr>
          <p:nvPr>
            <p:ph type="title"/>
          </p:nvPr>
        </p:nvSpPr>
        <p:spPr/>
        <p:txBody>
          <a:bodyPr/>
          <a:lstStyle/>
          <a:p>
            <a:r>
              <a:rPr lang="en-ZA" dirty="0"/>
              <a:t>3. Methodology</a:t>
            </a:r>
          </a:p>
        </p:txBody>
      </p:sp>
      <p:sp>
        <p:nvSpPr>
          <p:cNvPr id="3" name="Content Placeholder 2">
            <a:extLst>
              <a:ext uri="{FF2B5EF4-FFF2-40B4-BE49-F238E27FC236}">
                <a16:creationId xmlns:a16="http://schemas.microsoft.com/office/drawing/2014/main" id="{33A11A73-FC7F-D9F5-C6EF-E3D20716F4ED}"/>
              </a:ext>
            </a:extLst>
          </p:cNvPr>
          <p:cNvSpPr>
            <a:spLocks noGrp="1"/>
          </p:cNvSpPr>
          <p:nvPr>
            <p:ph idx="1"/>
          </p:nvPr>
        </p:nvSpPr>
        <p:spPr/>
        <p:txBody>
          <a:bodyPr>
            <a:normAutofit lnSpcReduction="10000"/>
          </a:bodyPr>
          <a:lstStyle/>
          <a:p>
            <a:r>
              <a:rPr lang="en-ZA" b="1" u="sng" dirty="0"/>
              <a:t>Data Collection:</a:t>
            </a:r>
            <a:r>
              <a:rPr lang="en-ZA" b="1" dirty="0"/>
              <a:t> </a:t>
            </a:r>
            <a:r>
              <a:rPr lang="en-ZA" b="1" i="1" dirty="0"/>
              <a:t> </a:t>
            </a:r>
            <a:r>
              <a:rPr lang="en-ZA" i="1" dirty="0"/>
              <a:t>Kaggle, Retail Sales Dataset by </a:t>
            </a:r>
            <a:r>
              <a:rPr lang="en-ZA" i="1" cap="all" dirty="0">
                <a:solidFill>
                  <a:srgbClr val="5F6368"/>
                </a:solidFill>
                <a:effectLst/>
                <a:latin typeface="Inter"/>
              </a:rPr>
              <a:t>Mohammad Talib</a:t>
            </a:r>
          </a:p>
          <a:p>
            <a:r>
              <a:rPr lang="en-ZA" b="1" u="sng" dirty="0"/>
              <a:t>Tools Used: </a:t>
            </a:r>
            <a:r>
              <a:rPr lang="en-ZA" i="1" dirty="0"/>
              <a:t>Microsoft Excel (Data Manipulation), IBM Cognos Analytics(Exploratory Data Analysis &amp; Data Visualization)   </a:t>
            </a:r>
          </a:p>
          <a:p>
            <a:r>
              <a:rPr lang="en-ZA" sz="2000" b="1" u="sng" dirty="0"/>
              <a:t>Process:</a:t>
            </a:r>
          </a:p>
          <a:p>
            <a:r>
              <a:rPr lang="en-ZA" b="1" dirty="0"/>
              <a:t>- </a:t>
            </a:r>
            <a:r>
              <a:rPr lang="en-ZA" b="1" i="1" dirty="0"/>
              <a:t>Transformation: </a:t>
            </a:r>
            <a:r>
              <a:rPr lang="en-ZA" i="1" dirty="0"/>
              <a:t>Converting the dataset from its comma-separated format to a tabular structured format. Converting Date from numerical to  Days of the Week (</a:t>
            </a:r>
            <a:r>
              <a:rPr lang="en-ZA" i="1" dirty="0" err="1"/>
              <a:t>dddd</a:t>
            </a:r>
            <a:r>
              <a:rPr lang="en-ZA" i="1" dirty="0"/>
              <a:t>)</a:t>
            </a:r>
          </a:p>
          <a:p>
            <a:r>
              <a:rPr lang="en-ZA" b="1" i="1" dirty="0"/>
              <a:t>- Cleaning: </a:t>
            </a:r>
            <a:r>
              <a:rPr lang="en-ZA" i="1" dirty="0"/>
              <a:t>Removing duplicates from the entire dataset </a:t>
            </a:r>
          </a:p>
          <a:p>
            <a:r>
              <a:rPr lang="en-ZA" b="1" i="1" dirty="0"/>
              <a:t>-</a:t>
            </a:r>
            <a:r>
              <a:rPr lang="en-ZA" i="1" dirty="0"/>
              <a:t> </a:t>
            </a:r>
            <a:r>
              <a:rPr lang="en-ZA" b="1" i="1" dirty="0"/>
              <a:t>Analysis: </a:t>
            </a:r>
            <a:r>
              <a:rPr lang="en-ZA" i="1" dirty="0"/>
              <a:t>Separating and creating key column combinations to answer important questions. Used visuals to gain further and additional insights </a:t>
            </a:r>
          </a:p>
          <a:p>
            <a:endParaRPr lang="en-ZA" b="1" dirty="0"/>
          </a:p>
          <a:p>
            <a:endParaRPr lang="en-ZA" i="0" cap="all" dirty="0">
              <a:solidFill>
                <a:srgbClr val="5F6368"/>
              </a:solidFill>
              <a:effectLst/>
              <a:latin typeface="Inter"/>
            </a:endParaRPr>
          </a:p>
          <a:p>
            <a:endParaRPr lang="en-ZA" dirty="0"/>
          </a:p>
        </p:txBody>
      </p:sp>
    </p:spTree>
    <p:extLst>
      <p:ext uri="{BB962C8B-B14F-4D97-AF65-F5344CB8AC3E}">
        <p14:creationId xmlns:p14="http://schemas.microsoft.com/office/powerpoint/2010/main" val="3489503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05955-3BFA-58AC-A567-896E1CFF4B13}"/>
              </a:ext>
            </a:extLst>
          </p:cNvPr>
          <p:cNvSpPr>
            <a:spLocks noGrp="1"/>
          </p:cNvSpPr>
          <p:nvPr>
            <p:ph type="title"/>
          </p:nvPr>
        </p:nvSpPr>
        <p:spPr/>
        <p:txBody>
          <a:bodyPr/>
          <a:lstStyle/>
          <a:p>
            <a:r>
              <a:rPr lang="en-ZA" dirty="0"/>
              <a:t>4. Results</a:t>
            </a:r>
          </a:p>
        </p:txBody>
      </p:sp>
      <p:pic>
        <p:nvPicPr>
          <p:cNvPr id="9" name="Content Placeholder 8" descr="A screenshot of a computer&#10;&#10;AI-generated content may be incorrect.">
            <a:extLst>
              <a:ext uri="{FF2B5EF4-FFF2-40B4-BE49-F238E27FC236}">
                <a16:creationId xmlns:a16="http://schemas.microsoft.com/office/drawing/2014/main" id="{79C41E70-235F-AFDB-45D1-B702BA0B1F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09722" y="2174034"/>
            <a:ext cx="3750906" cy="2670820"/>
          </a:xfrm>
        </p:spPr>
      </p:pic>
      <p:sp>
        <p:nvSpPr>
          <p:cNvPr id="10" name="TextBox 9">
            <a:extLst>
              <a:ext uri="{FF2B5EF4-FFF2-40B4-BE49-F238E27FC236}">
                <a16:creationId xmlns:a16="http://schemas.microsoft.com/office/drawing/2014/main" id="{4D8013C0-6D37-514E-3F74-84A2770D8BD3}"/>
              </a:ext>
            </a:extLst>
          </p:cNvPr>
          <p:cNvSpPr txBox="1"/>
          <p:nvPr/>
        </p:nvSpPr>
        <p:spPr>
          <a:xfrm>
            <a:off x="1097280" y="2108720"/>
            <a:ext cx="5747657" cy="3231654"/>
          </a:xfrm>
          <a:prstGeom prst="rect">
            <a:avLst/>
          </a:prstGeom>
          <a:noFill/>
        </p:spPr>
        <p:txBody>
          <a:bodyPr wrap="square" rtlCol="0">
            <a:spAutoFit/>
          </a:bodyPr>
          <a:lstStyle/>
          <a:p>
            <a:r>
              <a:rPr lang="en-US" b="1" dirty="0"/>
              <a:t>🔹 </a:t>
            </a:r>
            <a:r>
              <a:rPr lang="en-US" sz="2400" b="1" dirty="0"/>
              <a:t>Importance of Results (Insights)</a:t>
            </a:r>
          </a:p>
          <a:p>
            <a:r>
              <a:rPr lang="en-US" b="1" dirty="0"/>
              <a:t>1. Drive decisions</a:t>
            </a:r>
            <a:br>
              <a:rPr lang="en-US" dirty="0"/>
            </a:br>
            <a:r>
              <a:rPr lang="en-US" dirty="0"/>
              <a:t>Results turn raw data into answers like:</a:t>
            </a:r>
          </a:p>
          <a:p>
            <a:r>
              <a:rPr lang="en-US" b="1" dirty="0"/>
              <a:t>2. Show business value</a:t>
            </a:r>
            <a:br>
              <a:rPr lang="en-US" dirty="0"/>
            </a:br>
            <a:r>
              <a:rPr lang="en-US" dirty="0"/>
              <a:t>Good results connect analysis to outcomes:</a:t>
            </a:r>
          </a:p>
          <a:p>
            <a:r>
              <a:rPr lang="en-US" b="1" dirty="0"/>
              <a:t>3. Provide clarity</a:t>
            </a:r>
            <a:br>
              <a:rPr lang="en-US" dirty="0"/>
            </a:br>
            <a:r>
              <a:rPr lang="en-US" dirty="0"/>
              <a:t>They simplify complex data into clear takeaways that stakeholders can act on.</a:t>
            </a:r>
          </a:p>
          <a:p>
            <a:r>
              <a:rPr lang="en-US" b="1" dirty="0"/>
              <a:t>4. Support strategy</a:t>
            </a:r>
            <a:br>
              <a:rPr lang="en-US" dirty="0"/>
            </a:br>
            <a:r>
              <a:rPr lang="en-US" dirty="0"/>
              <a:t>Results help teams plan next steps instead of guessing.</a:t>
            </a:r>
          </a:p>
          <a:p>
            <a:endParaRPr lang="en-ZA" dirty="0"/>
          </a:p>
        </p:txBody>
      </p:sp>
    </p:spTree>
    <p:extLst>
      <p:ext uri="{BB962C8B-B14F-4D97-AF65-F5344CB8AC3E}">
        <p14:creationId xmlns:p14="http://schemas.microsoft.com/office/powerpoint/2010/main" val="2336944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6C5FD7-AC75-FBA6-52BD-E93951421352}"/>
              </a:ext>
            </a:extLst>
          </p:cNvPr>
          <p:cNvPicPr>
            <a:picLocks noChangeAspect="1"/>
          </p:cNvPicPr>
          <p:nvPr/>
        </p:nvPicPr>
        <p:blipFill>
          <a:blip r:embed="rId2"/>
          <a:stretch>
            <a:fillRect/>
          </a:stretch>
        </p:blipFill>
        <p:spPr>
          <a:xfrm>
            <a:off x="548551" y="717796"/>
            <a:ext cx="4249020" cy="4591322"/>
          </a:xfrm>
          <a:prstGeom prst="rect">
            <a:avLst/>
          </a:prstGeom>
        </p:spPr>
      </p:pic>
      <p:sp>
        <p:nvSpPr>
          <p:cNvPr id="3" name="TextBox 2">
            <a:extLst>
              <a:ext uri="{FF2B5EF4-FFF2-40B4-BE49-F238E27FC236}">
                <a16:creationId xmlns:a16="http://schemas.microsoft.com/office/drawing/2014/main" id="{35099D29-7E1E-ACE1-CEFB-EAEE33A99227}"/>
              </a:ext>
            </a:extLst>
          </p:cNvPr>
          <p:cNvSpPr txBox="1"/>
          <p:nvPr/>
        </p:nvSpPr>
        <p:spPr>
          <a:xfrm>
            <a:off x="5383763" y="578498"/>
            <a:ext cx="6335486" cy="5970865"/>
          </a:xfrm>
          <a:prstGeom prst="rect">
            <a:avLst/>
          </a:prstGeom>
          <a:noFill/>
        </p:spPr>
        <p:txBody>
          <a:bodyPr wrap="square" rtlCol="0">
            <a:spAutoFit/>
          </a:bodyPr>
          <a:lstStyle/>
          <a:p>
            <a:r>
              <a:rPr lang="en-ZA" sz="2400" u="sng" dirty="0"/>
              <a:t>Product Performance:</a:t>
            </a:r>
          </a:p>
          <a:p>
            <a:endParaRPr lang="en-ZA" sz="2400" u="sng" dirty="0"/>
          </a:p>
          <a:p>
            <a:r>
              <a:rPr lang="en-ZA" sz="1600" b="1" dirty="0"/>
              <a:t>1.    Which product category sold more units throughout the entire year?</a:t>
            </a:r>
          </a:p>
          <a:p>
            <a:endParaRPr lang="en-ZA" sz="1600" b="1" dirty="0"/>
          </a:p>
          <a:p>
            <a:r>
              <a:rPr lang="en-ZA" sz="1600" dirty="0"/>
              <a:t>A- Clothing is the most sold product throughout the year 2023, with 894 units sold, and the peak combined number of units sold for the week for clothing is on Wednesdays at 138 units sold.</a:t>
            </a:r>
          </a:p>
          <a:p>
            <a:endParaRPr lang="en-ZA" sz="1600" dirty="0"/>
          </a:p>
          <a:p>
            <a:r>
              <a:rPr lang="en-ZA" sz="1600" b="1" dirty="0"/>
              <a:t>2</a:t>
            </a:r>
            <a:r>
              <a:rPr lang="en-ZA" sz="1600" b="1" u="sng" dirty="0"/>
              <a:t>.</a:t>
            </a:r>
            <a:r>
              <a:rPr lang="en-ZA" sz="1600" b="1" dirty="0"/>
              <a:t>    What may have caused the product category mentioned above to sell more than other categories?</a:t>
            </a:r>
          </a:p>
          <a:p>
            <a:endParaRPr lang="en-ZA" sz="1600" b="1" dirty="0"/>
          </a:p>
          <a:p>
            <a:r>
              <a:rPr lang="en-ZA" sz="1600" dirty="0"/>
              <a:t>A- Clothing sells out more due to :</a:t>
            </a:r>
          </a:p>
          <a:p>
            <a:pPr marL="342900" indent="-342900">
              <a:buAutoNum type="arabicPeriod"/>
            </a:pPr>
            <a:r>
              <a:rPr lang="en-ZA" sz="1600" dirty="0"/>
              <a:t>High Demand: </a:t>
            </a:r>
            <a:r>
              <a:rPr lang="en-US" sz="1600" dirty="0">
                <a:latin typeface="Roboto" panose="020F0502020204030204" pitchFamily="2" charset="0"/>
              </a:rPr>
              <a:t>High demand due to their versatility and adaptability </a:t>
            </a:r>
            <a:endParaRPr lang="en-ZA" sz="1600" dirty="0"/>
          </a:p>
          <a:p>
            <a:pPr marL="342900" indent="-342900">
              <a:buAutoNum type="arabicPeriod"/>
            </a:pPr>
            <a:r>
              <a:rPr lang="en-ZA" sz="1600" dirty="0"/>
              <a:t>Sustainability: </a:t>
            </a:r>
          </a:p>
          <a:p>
            <a:r>
              <a:rPr lang="en-US" sz="1600" dirty="0">
                <a:latin typeface="Roboto" panose="02000000000000000000" pitchFamily="2" charset="0"/>
              </a:rPr>
              <a:t> Consumers are increasingly looking for sustainable and eco-friendly clothing options</a:t>
            </a:r>
            <a:endParaRPr lang="en-ZA" sz="1600" dirty="0"/>
          </a:p>
          <a:p>
            <a:r>
              <a:rPr lang="en-ZA" sz="1600" dirty="0"/>
              <a:t>3. Influencer marketing:</a:t>
            </a:r>
          </a:p>
          <a:p>
            <a:r>
              <a:rPr lang="en-ZA" sz="1600" dirty="0"/>
              <a:t> Influencers play a significant role in shaping fashion trends and preferences </a:t>
            </a:r>
            <a:endParaRPr lang="en-US" sz="1600" b="0" i="0" u="sng" dirty="0">
              <a:solidFill>
                <a:srgbClr val="3C51B4"/>
              </a:solidFill>
              <a:effectLst/>
              <a:latin typeface="Roboto" panose="02000000000000000000" pitchFamily="2" charset="0"/>
              <a:hlinkClick r:id="rId3"/>
            </a:endParaRPr>
          </a:p>
          <a:p>
            <a:r>
              <a:rPr lang="en-ZA" sz="1600" dirty="0"/>
              <a:t>4. Fast Fashion:</a:t>
            </a:r>
          </a:p>
          <a:p>
            <a:r>
              <a:rPr lang="en-ZA" sz="1600" b="1" dirty="0"/>
              <a:t> </a:t>
            </a:r>
            <a:r>
              <a:rPr lang="en-ZA" sz="1600" dirty="0"/>
              <a:t>This industry offers quick and affordable clothing options</a:t>
            </a:r>
          </a:p>
          <a:p>
            <a:endParaRPr lang="en-ZA" sz="1400" dirty="0"/>
          </a:p>
        </p:txBody>
      </p:sp>
    </p:spTree>
    <p:extLst>
      <p:ext uri="{BB962C8B-B14F-4D97-AF65-F5344CB8AC3E}">
        <p14:creationId xmlns:p14="http://schemas.microsoft.com/office/powerpoint/2010/main" val="712323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1A95B4-42E2-089F-B1F6-02CF742EBF1F}"/>
              </a:ext>
            </a:extLst>
          </p:cNvPr>
          <p:cNvSpPr txBox="1"/>
          <p:nvPr/>
        </p:nvSpPr>
        <p:spPr>
          <a:xfrm>
            <a:off x="5738327" y="351076"/>
            <a:ext cx="6148873" cy="4801314"/>
          </a:xfrm>
          <a:prstGeom prst="rect">
            <a:avLst/>
          </a:prstGeom>
          <a:noFill/>
        </p:spPr>
        <p:txBody>
          <a:bodyPr wrap="square" rtlCol="0">
            <a:spAutoFit/>
          </a:bodyPr>
          <a:lstStyle/>
          <a:p>
            <a:endParaRPr lang="en-ZA" u="sng" dirty="0"/>
          </a:p>
          <a:p>
            <a:r>
              <a:rPr lang="en-ZA" b="1" dirty="0"/>
              <a:t>1. Which product generated the most revenue in 2023?</a:t>
            </a:r>
          </a:p>
          <a:p>
            <a:r>
              <a:rPr lang="en-ZA" dirty="0"/>
              <a:t>Clothing generated the most revenue with R161,865, which is more than electronics with R138,480 and beauty products at R153,655.</a:t>
            </a:r>
          </a:p>
          <a:p>
            <a:endParaRPr lang="en-ZA" dirty="0"/>
          </a:p>
          <a:p>
            <a:r>
              <a:rPr lang="en-ZA" dirty="0"/>
              <a:t>2. </a:t>
            </a:r>
            <a:r>
              <a:rPr lang="en-ZA" b="1" dirty="0"/>
              <a:t>Which product category has the highest total unit quantity sold?</a:t>
            </a:r>
          </a:p>
          <a:p>
            <a:r>
              <a:rPr lang="en-ZA" dirty="0"/>
              <a:t>Clothing sold more units with 894, whilst electronics and beauty products sold 849 and 771 units respectively. </a:t>
            </a:r>
          </a:p>
          <a:p>
            <a:endParaRPr lang="en-ZA" dirty="0"/>
          </a:p>
          <a:p>
            <a:r>
              <a:rPr lang="en-ZA" dirty="0"/>
              <a:t>3. </a:t>
            </a:r>
            <a:r>
              <a:rPr lang="en-ZA" b="1" dirty="0"/>
              <a:t>What are the average prices per unit for each product category?</a:t>
            </a:r>
          </a:p>
          <a:p>
            <a:r>
              <a:rPr lang="en-ZA" dirty="0"/>
              <a:t>3.1 Beauty – R184.00</a:t>
            </a:r>
          </a:p>
          <a:p>
            <a:r>
              <a:rPr lang="en-ZA" dirty="0"/>
              <a:t>3.2 Electronics – R181.9</a:t>
            </a:r>
          </a:p>
          <a:p>
            <a:r>
              <a:rPr lang="en-ZA" dirty="0"/>
              <a:t>3.3 Clothing – R174.29</a:t>
            </a:r>
          </a:p>
          <a:p>
            <a:endParaRPr lang="en-ZA" dirty="0"/>
          </a:p>
        </p:txBody>
      </p:sp>
      <p:pic>
        <p:nvPicPr>
          <p:cNvPr id="6" name="Picture 5" descr="A purple squares with white text&#10;&#10;AI-generated content may be incorrect.">
            <a:extLst>
              <a:ext uri="{FF2B5EF4-FFF2-40B4-BE49-F238E27FC236}">
                <a16:creationId xmlns:a16="http://schemas.microsoft.com/office/drawing/2014/main" id="{CFF79CD7-CF35-2396-E3F6-98B183D5D1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291" y="118322"/>
            <a:ext cx="3576734" cy="2011913"/>
          </a:xfrm>
          <a:prstGeom prst="rect">
            <a:avLst/>
          </a:prstGeom>
        </p:spPr>
      </p:pic>
      <p:pic>
        <p:nvPicPr>
          <p:cNvPr id="8" name="Picture 7" descr="A purple squares with text&#10;&#10;AI-generated content may be incorrect.">
            <a:extLst>
              <a:ext uri="{FF2B5EF4-FFF2-40B4-BE49-F238E27FC236}">
                <a16:creationId xmlns:a16="http://schemas.microsoft.com/office/drawing/2014/main" id="{4E4E9F95-2597-2BA4-D978-91588B79C2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315" y="2220997"/>
            <a:ext cx="3448710" cy="1957514"/>
          </a:xfrm>
          <a:prstGeom prst="rect">
            <a:avLst/>
          </a:prstGeom>
        </p:spPr>
      </p:pic>
      <p:pic>
        <p:nvPicPr>
          <p:cNvPr id="10" name="Picture 9" descr="A purple squares with white text&#10;&#10;AI-generated content may be incorrect.">
            <a:extLst>
              <a:ext uri="{FF2B5EF4-FFF2-40B4-BE49-F238E27FC236}">
                <a16:creationId xmlns:a16="http://schemas.microsoft.com/office/drawing/2014/main" id="{3B11CA80-8309-C627-2DB3-2823BD8213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9315" y="4100803"/>
            <a:ext cx="3481367" cy="1998181"/>
          </a:xfrm>
          <a:prstGeom prst="rect">
            <a:avLst/>
          </a:prstGeom>
        </p:spPr>
      </p:pic>
    </p:spTree>
    <p:extLst>
      <p:ext uri="{BB962C8B-B14F-4D97-AF65-F5344CB8AC3E}">
        <p14:creationId xmlns:p14="http://schemas.microsoft.com/office/powerpoint/2010/main" val="3470386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person and person&#10;&#10;AI-generated content may be incorrect.">
            <a:extLst>
              <a:ext uri="{FF2B5EF4-FFF2-40B4-BE49-F238E27FC236}">
                <a16:creationId xmlns:a16="http://schemas.microsoft.com/office/drawing/2014/main" id="{CBF7E46C-7483-3466-BAEB-4B78B9521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421" y="449932"/>
            <a:ext cx="4658375" cy="2848439"/>
          </a:xfrm>
          <a:prstGeom prst="rect">
            <a:avLst/>
          </a:prstGeom>
        </p:spPr>
      </p:pic>
      <p:sp>
        <p:nvSpPr>
          <p:cNvPr id="9" name="TextBox 8">
            <a:extLst>
              <a:ext uri="{FF2B5EF4-FFF2-40B4-BE49-F238E27FC236}">
                <a16:creationId xmlns:a16="http://schemas.microsoft.com/office/drawing/2014/main" id="{AB080B45-1F3B-BA12-BEA2-FCD9D76D90F9}"/>
              </a:ext>
            </a:extLst>
          </p:cNvPr>
          <p:cNvSpPr txBox="1"/>
          <p:nvPr/>
        </p:nvSpPr>
        <p:spPr>
          <a:xfrm>
            <a:off x="5579706" y="580561"/>
            <a:ext cx="6214188" cy="3785652"/>
          </a:xfrm>
          <a:prstGeom prst="rect">
            <a:avLst/>
          </a:prstGeom>
          <a:noFill/>
        </p:spPr>
        <p:txBody>
          <a:bodyPr wrap="square" rtlCol="0">
            <a:spAutoFit/>
          </a:bodyPr>
          <a:lstStyle/>
          <a:p>
            <a:r>
              <a:rPr lang="en-ZA" sz="3200" u="sng" dirty="0"/>
              <a:t>Gender Contribution:</a:t>
            </a:r>
          </a:p>
          <a:p>
            <a:endParaRPr lang="en-ZA" sz="3200" u="sng" dirty="0"/>
          </a:p>
          <a:p>
            <a:pPr marL="342900" indent="-342900">
              <a:buAutoNum type="arabicPeriod"/>
            </a:pPr>
            <a:r>
              <a:rPr lang="en-ZA" sz="1600" b="1" dirty="0"/>
              <a:t>Which gender appears more frequently in the dataset?</a:t>
            </a:r>
          </a:p>
          <a:p>
            <a:endParaRPr lang="en-ZA" sz="1600" dirty="0"/>
          </a:p>
          <a:p>
            <a:r>
              <a:rPr lang="en-ZA" sz="1600" dirty="0"/>
              <a:t>A- Females appear more frequently with a total product sales quantity of 1,298, whilst males appeared 1,219. This means that females are the gender that made the most purchases in this store during 2023.</a:t>
            </a:r>
          </a:p>
          <a:p>
            <a:endParaRPr lang="en-ZA" sz="1600" dirty="0"/>
          </a:p>
          <a:p>
            <a:pPr marL="342900" indent="-342900">
              <a:buAutoNum type="arabicPeriod" startAt="2"/>
            </a:pPr>
            <a:r>
              <a:rPr lang="en-ZA" sz="1600" b="1" dirty="0"/>
              <a:t>What are the average ages per gender purchasing from the store? </a:t>
            </a:r>
          </a:p>
          <a:p>
            <a:endParaRPr lang="en-ZA" sz="1600" b="1" dirty="0"/>
          </a:p>
          <a:p>
            <a:r>
              <a:rPr lang="en-ZA" sz="1600" dirty="0"/>
              <a:t>A- The average age of male customers stands at 41,43 years old, whilst females have an average age of 41,36 years old. In conclusion</a:t>
            </a:r>
            <a:r>
              <a:rPr lang="en-US" sz="1600" dirty="0"/>
              <a:t>, the average age of customers at this store is approximately 41 years</a:t>
            </a:r>
            <a:r>
              <a:rPr lang="en-ZA" sz="1600" dirty="0"/>
              <a:t>. </a:t>
            </a:r>
            <a:endParaRPr lang="en-ZA" dirty="0"/>
          </a:p>
        </p:txBody>
      </p:sp>
      <p:pic>
        <p:nvPicPr>
          <p:cNvPr id="11" name="Picture 10" descr="A screenshot of a computer&#10;&#10;AI-generated content may be incorrect.">
            <a:extLst>
              <a:ext uri="{FF2B5EF4-FFF2-40B4-BE49-F238E27FC236}">
                <a16:creationId xmlns:a16="http://schemas.microsoft.com/office/drawing/2014/main" id="{0583FECC-493C-96F7-F0D9-E3C8EA4154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755" y="3429000"/>
            <a:ext cx="4507041" cy="2897587"/>
          </a:xfrm>
          <a:prstGeom prst="rect">
            <a:avLst/>
          </a:prstGeom>
        </p:spPr>
      </p:pic>
    </p:spTree>
    <p:extLst>
      <p:ext uri="{BB962C8B-B14F-4D97-AF65-F5344CB8AC3E}">
        <p14:creationId xmlns:p14="http://schemas.microsoft.com/office/powerpoint/2010/main" val="3966391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B417C-2212-C4EA-0BAA-76DE1C11785F}"/>
              </a:ext>
            </a:extLst>
          </p:cNvPr>
          <p:cNvSpPr>
            <a:spLocks noGrp="1"/>
          </p:cNvSpPr>
          <p:nvPr>
            <p:ph type="title"/>
          </p:nvPr>
        </p:nvSpPr>
        <p:spPr/>
        <p:txBody>
          <a:bodyPr/>
          <a:lstStyle/>
          <a:p>
            <a:r>
              <a:rPr lang="en-ZA" dirty="0"/>
              <a:t>5. Dashboard</a:t>
            </a:r>
          </a:p>
        </p:txBody>
      </p:sp>
      <p:sp>
        <p:nvSpPr>
          <p:cNvPr id="3" name="Content Placeholder 2">
            <a:extLst>
              <a:ext uri="{FF2B5EF4-FFF2-40B4-BE49-F238E27FC236}">
                <a16:creationId xmlns:a16="http://schemas.microsoft.com/office/drawing/2014/main" id="{AA8CFABE-3877-C401-6EE9-015933645FC7}"/>
              </a:ext>
            </a:extLst>
          </p:cNvPr>
          <p:cNvSpPr>
            <a:spLocks noGrp="1"/>
          </p:cNvSpPr>
          <p:nvPr>
            <p:ph idx="1"/>
          </p:nvPr>
        </p:nvSpPr>
        <p:spPr>
          <a:xfrm>
            <a:off x="1097279" y="2108201"/>
            <a:ext cx="8242663" cy="2790370"/>
          </a:xfrm>
        </p:spPr>
        <p:txBody>
          <a:bodyPr>
            <a:normAutofit fontScale="77500" lnSpcReduction="20000"/>
          </a:bodyPr>
          <a:lstStyle/>
          <a:p>
            <a:r>
              <a:rPr lang="en-US" b="1" dirty="0"/>
              <a:t>🔹 Importance of Dashboards</a:t>
            </a:r>
          </a:p>
          <a:p>
            <a:r>
              <a:rPr lang="en-US" b="1" dirty="0"/>
              <a:t>1. Visual understanding</a:t>
            </a:r>
            <a:br>
              <a:rPr lang="en-US" dirty="0"/>
            </a:br>
            <a:r>
              <a:rPr lang="en-US" dirty="0"/>
              <a:t>Dashboards make patterns obvious using charts instead of raw numbers.</a:t>
            </a:r>
          </a:p>
          <a:p>
            <a:r>
              <a:rPr lang="en-US" b="1" dirty="0"/>
              <a:t>2. Real-time monitoring</a:t>
            </a:r>
            <a:br>
              <a:rPr lang="en-US" dirty="0"/>
            </a:br>
            <a:r>
              <a:rPr lang="en-US" dirty="0"/>
              <a:t>Track performance continuously (sales, users, trends).</a:t>
            </a:r>
          </a:p>
          <a:p>
            <a:r>
              <a:rPr lang="en-US" b="1" dirty="0"/>
              <a:t>3. Faster decisions</a:t>
            </a:r>
            <a:br>
              <a:rPr lang="en-US" dirty="0"/>
            </a:br>
            <a:r>
              <a:rPr lang="en-US" dirty="0"/>
              <a:t>People can quickly see what’s happening without reading long reports.</a:t>
            </a:r>
          </a:p>
          <a:p>
            <a:r>
              <a:rPr lang="en-US" b="1" dirty="0"/>
              <a:t>4. Interactivity</a:t>
            </a:r>
            <a:br>
              <a:rPr lang="en-US" dirty="0"/>
            </a:br>
            <a:r>
              <a:rPr lang="en-US" dirty="0"/>
              <a:t>Users can filter and explore data themselves. (available on pdf) </a:t>
            </a:r>
          </a:p>
          <a:p>
            <a:endParaRPr lang="en-ZA" dirty="0"/>
          </a:p>
        </p:txBody>
      </p:sp>
      <p:pic>
        <p:nvPicPr>
          <p:cNvPr id="5" name="Picture 4" descr="A person holding a gear&#10;&#10;AI-generated content may be incorrect.">
            <a:extLst>
              <a:ext uri="{FF2B5EF4-FFF2-40B4-BE49-F238E27FC236}">
                <a16:creationId xmlns:a16="http://schemas.microsoft.com/office/drawing/2014/main" id="{C3AEA7A9-9279-DCE3-0144-F139C6AC64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0551" y="2380198"/>
            <a:ext cx="3121152" cy="2246376"/>
          </a:xfrm>
          <a:prstGeom prst="rect">
            <a:avLst/>
          </a:prstGeom>
        </p:spPr>
      </p:pic>
    </p:spTree>
    <p:extLst>
      <p:ext uri="{BB962C8B-B14F-4D97-AF65-F5344CB8AC3E}">
        <p14:creationId xmlns:p14="http://schemas.microsoft.com/office/powerpoint/2010/main" val="2097476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8AF1A429-75EA-91BF-6E58-AAB8065C5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58" y="1138335"/>
            <a:ext cx="11724083" cy="5063709"/>
          </a:xfrm>
          <a:prstGeom prst="rect">
            <a:avLst/>
          </a:prstGeom>
        </p:spPr>
      </p:pic>
      <p:sp>
        <p:nvSpPr>
          <p:cNvPr id="4" name="TextBox 3">
            <a:extLst>
              <a:ext uri="{FF2B5EF4-FFF2-40B4-BE49-F238E27FC236}">
                <a16:creationId xmlns:a16="http://schemas.microsoft.com/office/drawing/2014/main" id="{5CCE78AE-F50B-0028-0F34-F2D0B0E6AD07}"/>
              </a:ext>
            </a:extLst>
          </p:cNvPr>
          <p:cNvSpPr txBox="1"/>
          <p:nvPr/>
        </p:nvSpPr>
        <p:spPr>
          <a:xfrm>
            <a:off x="342124" y="273994"/>
            <a:ext cx="11849876" cy="646331"/>
          </a:xfrm>
          <a:prstGeom prst="rect">
            <a:avLst/>
          </a:prstGeom>
          <a:noFill/>
        </p:spPr>
        <p:txBody>
          <a:bodyPr wrap="square" rtlCol="0">
            <a:spAutoFit/>
          </a:bodyPr>
          <a:lstStyle/>
          <a:p>
            <a:r>
              <a:rPr lang="en-ZA" sz="3600" b="1" u="sng" dirty="0"/>
              <a:t>Product Quantity by Day of the Week during the year 2023</a:t>
            </a:r>
          </a:p>
        </p:txBody>
      </p:sp>
      <p:sp>
        <p:nvSpPr>
          <p:cNvPr id="2" name="TextBox 1">
            <a:extLst>
              <a:ext uri="{FF2B5EF4-FFF2-40B4-BE49-F238E27FC236}">
                <a16:creationId xmlns:a16="http://schemas.microsoft.com/office/drawing/2014/main" id="{5420B9D3-CE32-F040-EE45-A26BFEC06AEB}"/>
              </a:ext>
            </a:extLst>
          </p:cNvPr>
          <p:cNvSpPr txBox="1"/>
          <p:nvPr/>
        </p:nvSpPr>
        <p:spPr>
          <a:xfrm>
            <a:off x="8472197" y="5719665"/>
            <a:ext cx="3387012" cy="461665"/>
          </a:xfrm>
          <a:prstGeom prst="rect">
            <a:avLst/>
          </a:prstGeom>
          <a:noFill/>
        </p:spPr>
        <p:txBody>
          <a:bodyPr wrap="square" rtlCol="0">
            <a:spAutoFit/>
          </a:bodyPr>
          <a:lstStyle/>
          <a:p>
            <a:r>
              <a:rPr lang="en-ZA" sz="1200" dirty="0"/>
              <a:t>*All dashboards are available in the attached PDF</a:t>
            </a:r>
          </a:p>
        </p:txBody>
      </p:sp>
    </p:spTree>
    <p:extLst>
      <p:ext uri="{BB962C8B-B14F-4D97-AF65-F5344CB8AC3E}">
        <p14:creationId xmlns:p14="http://schemas.microsoft.com/office/powerpoint/2010/main" val="1066093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394C81-E297-F4D7-68CC-179B0689592E}"/>
              </a:ext>
            </a:extLst>
          </p:cNvPr>
          <p:cNvSpPr txBox="1"/>
          <p:nvPr/>
        </p:nvSpPr>
        <p:spPr>
          <a:xfrm>
            <a:off x="283028" y="139960"/>
            <a:ext cx="11625943" cy="5078313"/>
          </a:xfrm>
          <a:prstGeom prst="rect">
            <a:avLst/>
          </a:prstGeom>
          <a:noFill/>
        </p:spPr>
        <p:txBody>
          <a:bodyPr wrap="square" rtlCol="0">
            <a:spAutoFit/>
          </a:bodyPr>
          <a:lstStyle/>
          <a:p>
            <a:pPr marL="342900" indent="-342900">
              <a:buFont typeface="Arial" panose="020B0604020202020204" pitchFamily="34" charset="0"/>
              <a:buChar char="•"/>
            </a:pPr>
            <a:r>
              <a:rPr lang="en-ZA" sz="2000" b="1" dirty="0"/>
              <a:t>What day of the week has the highest total product quantity sold in 2023?</a:t>
            </a:r>
          </a:p>
          <a:p>
            <a:r>
              <a:rPr lang="en-ZA" sz="2000" b="1" dirty="0"/>
              <a:t> </a:t>
            </a:r>
            <a:r>
              <a:rPr lang="en-ZA" sz="2000" i="1" dirty="0"/>
              <a:t>Tuesday is the day of the week that generated the highest units sold, with 397 units throughout the year.</a:t>
            </a:r>
          </a:p>
          <a:p>
            <a:endParaRPr lang="en-ZA" sz="2000" i="1" dirty="0"/>
          </a:p>
          <a:p>
            <a:pPr marL="285750" indent="-285750">
              <a:buFont typeface="Arial" panose="020B0604020202020204" pitchFamily="34" charset="0"/>
              <a:buChar char="•"/>
            </a:pPr>
            <a:r>
              <a:rPr lang="en-ZA" sz="2000" b="1" dirty="0"/>
              <a:t>What day of the week has the lowest demand?</a:t>
            </a:r>
          </a:p>
          <a:p>
            <a:r>
              <a:rPr lang="en-ZA" sz="2000" i="1" dirty="0"/>
              <a:t>Thursday is the day of the week that generated the lowest units sold, with only 301 units through the year</a:t>
            </a:r>
            <a:r>
              <a:rPr lang="en-ZA" sz="2000" dirty="0"/>
              <a:t>.</a:t>
            </a:r>
          </a:p>
          <a:p>
            <a:endParaRPr lang="en-ZA" sz="2000" dirty="0"/>
          </a:p>
          <a:p>
            <a:pPr marL="342900" indent="-342900">
              <a:buFont typeface="Arial" panose="020B0604020202020204" pitchFamily="34" charset="0"/>
              <a:buChar char="•"/>
            </a:pPr>
            <a:r>
              <a:rPr lang="en-ZA" sz="2000" b="1" dirty="0"/>
              <a:t>How does product demand vary by days of the week in 2023?</a:t>
            </a:r>
          </a:p>
          <a:p>
            <a:r>
              <a:rPr lang="en-ZA" sz="2000" dirty="0"/>
              <a:t>Demand through the week is not constant. Demand fluctuates through the week. Sales initially start off at 329 units on Sundays, then encounter an uphill climb towards their first and highest peak on Tuesday with 397 units sold. Sales then drop from Tuesday to Thursday to a total of 301 units sold. Then the quantity increased by 24% towards Friday and Saturday, see the total sales increase and remain at a constant value of 373 units, respectively. </a:t>
            </a:r>
          </a:p>
          <a:p>
            <a:endParaRPr lang="en-ZA" sz="2000" dirty="0"/>
          </a:p>
          <a:p>
            <a:r>
              <a:rPr lang="en-ZA" sz="2400" b="1" u="sng" dirty="0"/>
              <a:t>Key Takeaways:</a:t>
            </a:r>
          </a:p>
          <a:p>
            <a:endParaRPr lang="en-ZA" sz="2000" dirty="0"/>
          </a:p>
          <a:p>
            <a:pPr marL="285750" indent="-285750">
              <a:buFont typeface="Arial" panose="020B0604020202020204" pitchFamily="34" charset="0"/>
              <a:buChar char="•"/>
            </a:pPr>
            <a:r>
              <a:rPr lang="en-ZA" sz="2000" dirty="0"/>
              <a:t>Sales weaken at the beginning of every week and towards the end of business weeks</a:t>
            </a:r>
          </a:p>
        </p:txBody>
      </p:sp>
    </p:spTree>
    <p:extLst>
      <p:ext uri="{BB962C8B-B14F-4D97-AF65-F5344CB8AC3E}">
        <p14:creationId xmlns:p14="http://schemas.microsoft.com/office/powerpoint/2010/main" val="2410991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8CCCB029-25A3-CACF-4509-9A8770B4B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0940" y="1017926"/>
            <a:ext cx="9450119" cy="5363323"/>
          </a:xfrm>
          <a:prstGeom prst="rect">
            <a:avLst/>
          </a:prstGeom>
        </p:spPr>
      </p:pic>
      <p:sp>
        <p:nvSpPr>
          <p:cNvPr id="4" name="TextBox 3">
            <a:extLst>
              <a:ext uri="{FF2B5EF4-FFF2-40B4-BE49-F238E27FC236}">
                <a16:creationId xmlns:a16="http://schemas.microsoft.com/office/drawing/2014/main" id="{862D8E02-6B9C-020B-E0CB-9D0AA329BC5C}"/>
              </a:ext>
            </a:extLst>
          </p:cNvPr>
          <p:cNvSpPr txBox="1"/>
          <p:nvPr/>
        </p:nvSpPr>
        <p:spPr>
          <a:xfrm>
            <a:off x="569167" y="107419"/>
            <a:ext cx="11737910" cy="646331"/>
          </a:xfrm>
          <a:prstGeom prst="rect">
            <a:avLst/>
          </a:prstGeom>
          <a:noFill/>
        </p:spPr>
        <p:txBody>
          <a:bodyPr wrap="square" rtlCol="0">
            <a:spAutoFit/>
          </a:bodyPr>
          <a:lstStyle/>
          <a:p>
            <a:pPr algn="ctr"/>
            <a:r>
              <a:rPr lang="en-ZA" sz="3600" u="sng" dirty="0"/>
              <a:t>Customer Demographic Analysis</a:t>
            </a:r>
          </a:p>
        </p:txBody>
      </p:sp>
    </p:spTree>
    <p:extLst>
      <p:ext uri="{BB962C8B-B14F-4D97-AF65-F5344CB8AC3E}">
        <p14:creationId xmlns:p14="http://schemas.microsoft.com/office/powerpoint/2010/main" val="189210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C1DC2D-4CE8-A3CE-E01B-AF64D1E7B729}"/>
              </a:ext>
            </a:extLst>
          </p:cNvPr>
          <p:cNvSpPr txBox="1"/>
          <p:nvPr/>
        </p:nvSpPr>
        <p:spPr>
          <a:xfrm>
            <a:off x="223934" y="149290"/>
            <a:ext cx="11402009" cy="5632311"/>
          </a:xfrm>
          <a:prstGeom prst="rect">
            <a:avLst/>
          </a:prstGeom>
          <a:noFill/>
        </p:spPr>
        <p:txBody>
          <a:bodyPr wrap="square" rtlCol="0">
            <a:spAutoFit/>
          </a:bodyPr>
          <a:lstStyle/>
          <a:p>
            <a:pPr marL="285750" indent="-285750">
              <a:buFont typeface="Arial" panose="020B0604020202020204" pitchFamily="34" charset="0"/>
              <a:buChar char="•"/>
            </a:pPr>
            <a:r>
              <a:rPr lang="en-ZA" b="1" dirty="0"/>
              <a:t>What are the average ages of customers per product category?</a:t>
            </a:r>
          </a:p>
          <a:p>
            <a:r>
              <a:rPr lang="en-ZA" i="1" dirty="0"/>
              <a:t>The average ages for each product are as follows:</a:t>
            </a:r>
          </a:p>
          <a:p>
            <a:r>
              <a:rPr lang="en-ZA" i="1" dirty="0"/>
              <a:t>Beauty – 40,37 years old </a:t>
            </a:r>
          </a:p>
          <a:p>
            <a:r>
              <a:rPr lang="en-ZA" i="1" dirty="0"/>
              <a:t>Clothing – 41,95 years old </a:t>
            </a:r>
          </a:p>
          <a:p>
            <a:r>
              <a:rPr lang="en-ZA" i="1" dirty="0"/>
              <a:t>Electronics – 41,74 years old</a:t>
            </a:r>
          </a:p>
          <a:p>
            <a:pPr marL="285750" indent="-285750">
              <a:buFont typeface="Arial" panose="020B0604020202020204" pitchFamily="34" charset="0"/>
              <a:buChar char="•"/>
            </a:pPr>
            <a:endParaRPr lang="en-ZA" i="1" dirty="0"/>
          </a:p>
          <a:p>
            <a:pPr marL="285750" indent="-285750">
              <a:buFont typeface="Arial" panose="020B0604020202020204" pitchFamily="34" charset="0"/>
              <a:buChar char="•"/>
            </a:pPr>
            <a:endParaRPr lang="en-ZA" b="1" dirty="0"/>
          </a:p>
          <a:p>
            <a:pPr marL="285750" indent="-285750">
              <a:buFont typeface="Arial" panose="020B0604020202020204" pitchFamily="34" charset="0"/>
              <a:buChar char="•"/>
            </a:pPr>
            <a:r>
              <a:rPr lang="en-ZA" b="1" dirty="0"/>
              <a:t>Which gender contributes most to the total revenue of 2023?</a:t>
            </a:r>
          </a:p>
          <a:p>
            <a:r>
              <a:rPr lang="en-ZA" i="1" dirty="0"/>
              <a:t>Females contributed more to the total revenue earned with R231,785, whilst males contributed R224,215.</a:t>
            </a:r>
          </a:p>
          <a:p>
            <a:pPr marL="285750" indent="-285750">
              <a:buFont typeface="Arial" panose="020B0604020202020204" pitchFamily="34" charset="0"/>
              <a:buChar char="•"/>
            </a:pPr>
            <a:endParaRPr lang="en-ZA" i="1" dirty="0"/>
          </a:p>
          <a:p>
            <a:pPr marL="285750" indent="-285750">
              <a:buFont typeface="Arial" panose="020B0604020202020204" pitchFamily="34" charset="0"/>
              <a:buChar char="•"/>
            </a:pPr>
            <a:endParaRPr lang="en-ZA" b="1" dirty="0"/>
          </a:p>
          <a:p>
            <a:pPr marL="285750" indent="-285750">
              <a:buFont typeface="Arial" panose="020B0604020202020204" pitchFamily="34" charset="0"/>
              <a:buChar char="•"/>
            </a:pPr>
            <a:endParaRPr lang="en-ZA" b="1" dirty="0"/>
          </a:p>
          <a:p>
            <a:pPr marL="285750" indent="-285750">
              <a:buFont typeface="Arial" panose="020B0604020202020204" pitchFamily="34" charset="0"/>
              <a:buChar char="•"/>
            </a:pPr>
            <a:r>
              <a:rPr lang="en-ZA" b="1" dirty="0"/>
              <a:t>What are the average prices per unit for each gender?</a:t>
            </a:r>
          </a:p>
          <a:p>
            <a:r>
              <a:rPr lang="en-ZA" i="1" dirty="0"/>
              <a:t>Females contribute an average price per unit value of R180.07, and males contribute R179.7.</a:t>
            </a:r>
          </a:p>
          <a:p>
            <a:pPr marL="285750" indent="-285750">
              <a:buFont typeface="Arial" panose="020B0604020202020204" pitchFamily="34" charset="0"/>
              <a:buChar char="•"/>
            </a:pPr>
            <a:endParaRPr lang="en-ZA" i="1" dirty="0"/>
          </a:p>
          <a:p>
            <a:pPr marL="285750" indent="-285750">
              <a:buFont typeface="Arial" panose="020B0604020202020204" pitchFamily="34" charset="0"/>
              <a:buChar char="•"/>
            </a:pPr>
            <a:endParaRPr lang="en-ZA" b="1" dirty="0"/>
          </a:p>
          <a:p>
            <a:pPr marL="285750" indent="-285750">
              <a:buFont typeface="Arial" panose="020B0604020202020204" pitchFamily="34" charset="0"/>
              <a:buChar char="•"/>
            </a:pPr>
            <a:r>
              <a:rPr lang="en-ZA" b="1" dirty="0"/>
              <a:t>Which age group generated the most revenue for Pick ‘n Pay in the 2023 calendar year?</a:t>
            </a:r>
          </a:p>
          <a:p>
            <a:r>
              <a:rPr lang="en-ZA" i="1" dirty="0"/>
              <a:t>Out of all the age groups, 64-year-olds generated the most revenue out of all the other groups, with an amount of R16,900</a:t>
            </a:r>
          </a:p>
          <a:p>
            <a:endParaRPr lang="en-ZA" b="1" dirty="0"/>
          </a:p>
        </p:txBody>
      </p:sp>
    </p:spTree>
    <p:extLst>
      <p:ext uri="{BB962C8B-B14F-4D97-AF65-F5344CB8AC3E}">
        <p14:creationId xmlns:p14="http://schemas.microsoft.com/office/powerpoint/2010/main" val="3254971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7F743-3885-6F49-58CD-82454B230AD3}"/>
              </a:ext>
            </a:extLst>
          </p:cNvPr>
          <p:cNvSpPr>
            <a:spLocks noGrp="1"/>
          </p:cNvSpPr>
          <p:nvPr>
            <p:ph type="title"/>
          </p:nvPr>
        </p:nvSpPr>
        <p:spPr/>
        <p:txBody>
          <a:bodyPr/>
          <a:lstStyle/>
          <a:p>
            <a:r>
              <a:rPr lang="en-ZA" dirty="0"/>
              <a:t>6. Discussion</a:t>
            </a:r>
          </a:p>
        </p:txBody>
      </p:sp>
      <p:sp>
        <p:nvSpPr>
          <p:cNvPr id="3" name="Content Placeholder 2">
            <a:extLst>
              <a:ext uri="{FF2B5EF4-FFF2-40B4-BE49-F238E27FC236}">
                <a16:creationId xmlns:a16="http://schemas.microsoft.com/office/drawing/2014/main" id="{8154F42B-E279-2B2D-023F-94AAED820E2C}"/>
              </a:ext>
            </a:extLst>
          </p:cNvPr>
          <p:cNvSpPr>
            <a:spLocks noGrp="1"/>
          </p:cNvSpPr>
          <p:nvPr>
            <p:ph idx="1"/>
          </p:nvPr>
        </p:nvSpPr>
        <p:spPr/>
        <p:txBody>
          <a:bodyPr/>
          <a:lstStyle/>
          <a:p>
            <a:r>
              <a:rPr lang="en-ZA" dirty="0"/>
              <a:t>Now what do these findings tell us? That’s what we need to find out.</a:t>
            </a:r>
          </a:p>
          <a:p>
            <a:r>
              <a:rPr lang="en-ZA" dirty="0"/>
              <a:t>We will be discussing the following :</a:t>
            </a:r>
          </a:p>
          <a:p>
            <a:pPr>
              <a:buFont typeface="Arial" panose="020B0604020202020204" pitchFamily="34" charset="0"/>
              <a:buChar char="•"/>
            </a:pPr>
            <a:r>
              <a:rPr lang="en-ZA" dirty="0"/>
              <a:t> Sales inconsistency</a:t>
            </a:r>
          </a:p>
          <a:p>
            <a:pPr>
              <a:buFont typeface="Arial" panose="020B0604020202020204" pitchFamily="34" charset="0"/>
              <a:buChar char="•"/>
            </a:pPr>
            <a:r>
              <a:rPr lang="en-ZA" dirty="0"/>
              <a:t> Gender and Age inconsistency </a:t>
            </a:r>
          </a:p>
          <a:p>
            <a:pPr marL="0" indent="0">
              <a:buNone/>
            </a:pPr>
            <a:endParaRPr lang="en-ZA" dirty="0"/>
          </a:p>
        </p:txBody>
      </p:sp>
      <p:pic>
        <p:nvPicPr>
          <p:cNvPr id="5" name="Picture 4" descr="A light bulb with a filament&#10;&#10;AI-generated content may be incorrect.">
            <a:extLst>
              <a:ext uri="{FF2B5EF4-FFF2-40B4-BE49-F238E27FC236}">
                <a16:creationId xmlns:a16="http://schemas.microsoft.com/office/drawing/2014/main" id="{855A9EEE-D8BA-5440-963F-5D3A597548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8988" y="2759216"/>
            <a:ext cx="4575732" cy="3329261"/>
          </a:xfrm>
          <a:prstGeom prst="rect">
            <a:avLst/>
          </a:prstGeom>
        </p:spPr>
      </p:pic>
    </p:spTree>
    <p:extLst>
      <p:ext uri="{BB962C8B-B14F-4D97-AF65-F5344CB8AC3E}">
        <p14:creationId xmlns:p14="http://schemas.microsoft.com/office/powerpoint/2010/main" val="2779993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FD357-6213-C611-92C8-BF55B02391B2}"/>
              </a:ext>
            </a:extLst>
          </p:cNvPr>
          <p:cNvSpPr>
            <a:spLocks noGrp="1"/>
          </p:cNvSpPr>
          <p:nvPr>
            <p:ph type="title"/>
          </p:nvPr>
        </p:nvSpPr>
        <p:spPr>
          <a:xfrm>
            <a:off x="1066800" y="799788"/>
            <a:ext cx="10058400" cy="823740"/>
          </a:xfrm>
        </p:spPr>
        <p:txBody>
          <a:bodyPr>
            <a:normAutofit/>
          </a:bodyPr>
          <a:lstStyle/>
          <a:p>
            <a:r>
              <a:rPr lang="en-ZA" dirty="0"/>
              <a:t>Sales inconsistency </a:t>
            </a:r>
          </a:p>
        </p:txBody>
      </p:sp>
      <p:sp>
        <p:nvSpPr>
          <p:cNvPr id="3" name="Content Placeholder 2">
            <a:extLst>
              <a:ext uri="{FF2B5EF4-FFF2-40B4-BE49-F238E27FC236}">
                <a16:creationId xmlns:a16="http://schemas.microsoft.com/office/drawing/2014/main" id="{74A274AB-37F8-84AC-A3E1-2F4DC97446FE}"/>
              </a:ext>
            </a:extLst>
          </p:cNvPr>
          <p:cNvSpPr>
            <a:spLocks noGrp="1"/>
          </p:cNvSpPr>
          <p:nvPr>
            <p:ph idx="1"/>
          </p:nvPr>
        </p:nvSpPr>
        <p:spPr>
          <a:xfrm>
            <a:off x="1097280" y="2118050"/>
            <a:ext cx="10058400" cy="3940162"/>
          </a:xfrm>
        </p:spPr>
        <p:txBody>
          <a:bodyPr/>
          <a:lstStyle/>
          <a:p>
            <a:pPr>
              <a:buFont typeface="Arial" panose="020B0604020202020204" pitchFamily="34" charset="0"/>
              <a:buChar char="•"/>
            </a:pPr>
            <a:r>
              <a:rPr lang="en-ZA" dirty="0"/>
              <a:t>Sales seem to remain constant during weekends and enter a period of fluctuation during the weekdays.</a:t>
            </a:r>
          </a:p>
          <a:p>
            <a:pPr>
              <a:buFont typeface="Arial" panose="020B0604020202020204" pitchFamily="34" charset="0"/>
              <a:buChar char="•"/>
            </a:pPr>
            <a:r>
              <a:rPr lang="en-ZA" dirty="0"/>
              <a:t> Availability of customers reduces during weekdays because of work and school days. This also explains why 64-year-olds were the highest contributors to Pick ‘n Pay’s annual gross earnings. The elderly are typically in their retirement stages, which allows them more time to travel to stores, unlike the youth and adults.</a:t>
            </a:r>
          </a:p>
          <a:p>
            <a:pPr>
              <a:buFont typeface="Arial" panose="020B0604020202020204" pitchFamily="34" charset="0"/>
              <a:buChar char="•"/>
            </a:pPr>
            <a:r>
              <a:rPr lang="en-ZA" dirty="0"/>
              <a:t>The relationship between customer availability and sales quantity shares an expected relationship. As one variable increases, the other will also increase.</a:t>
            </a:r>
          </a:p>
          <a:p>
            <a:pPr>
              <a:buFont typeface="Arial" panose="020B0604020202020204" pitchFamily="34" charset="0"/>
              <a:buChar char="•"/>
            </a:pPr>
            <a:r>
              <a:rPr lang="en-ZA" dirty="0"/>
              <a:t>So, Pick ‘n Pay is limited to consistent profits during the weekend. During the weekdays, there are uncertainties in product performance.</a:t>
            </a:r>
          </a:p>
        </p:txBody>
      </p:sp>
    </p:spTree>
    <p:extLst>
      <p:ext uri="{BB962C8B-B14F-4D97-AF65-F5344CB8AC3E}">
        <p14:creationId xmlns:p14="http://schemas.microsoft.com/office/powerpoint/2010/main" val="2986080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ECE17-AD51-A0BA-A0FC-9A12A2F45170}"/>
              </a:ext>
            </a:extLst>
          </p:cNvPr>
          <p:cNvSpPr>
            <a:spLocks noGrp="1"/>
          </p:cNvSpPr>
          <p:nvPr>
            <p:ph type="title"/>
          </p:nvPr>
        </p:nvSpPr>
        <p:spPr/>
        <p:txBody>
          <a:bodyPr/>
          <a:lstStyle/>
          <a:p>
            <a:r>
              <a:rPr lang="en-ZA" dirty="0"/>
              <a:t>Gender and Age Inconsistency</a:t>
            </a:r>
          </a:p>
        </p:txBody>
      </p:sp>
      <p:sp>
        <p:nvSpPr>
          <p:cNvPr id="3" name="Content Placeholder 2">
            <a:extLst>
              <a:ext uri="{FF2B5EF4-FFF2-40B4-BE49-F238E27FC236}">
                <a16:creationId xmlns:a16="http://schemas.microsoft.com/office/drawing/2014/main" id="{FAC0D1B5-7D88-1A15-4180-C2BE1F2A774D}"/>
              </a:ext>
            </a:extLst>
          </p:cNvPr>
          <p:cNvSpPr>
            <a:spLocks noGrp="1"/>
          </p:cNvSpPr>
          <p:nvPr>
            <p:ph idx="1"/>
          </p:nvPr>
        </p:nvSpPr>
        <p:spPr/>
        <p:txBody>
          <a:bodyPr>
            <a:normAutofit/>
          </a:bodyPr>
          <a:lstStyle/>
          <a:p>
            <a:pPr>
              <a:buFont typeface="Arial" panose="020B0604020202020204" pitchFamily="34" charset="0"/>
              <a:buChar char="•"/>
            </a:pPr>
            <a:r>
              <a:rPr lang="en-ZA" dirty="0"/>
              <a:t>The gender of customers does not have a significant effect on revenue, as females slightly contribute more than males in the annual gross earnings of Pick ‘n Pay for the year 2023. As we drive deeper, we realise that the difference in ages is the major imbalance in the earnings of Pick ‘n Pay.</a:t>
            </a:r>
          </a:p>
          <a:p>
            <a:pPr>
              <a:buFont typeface="Arial" panose="020B0604020202020204" pitchFamily="34" charset="0"/>
              <a:buChar char="•"/>
            </a:pPr>
            <a:r>
              <a:rPr lang="en-ZA" dirty="0"/>
              <a:t>Ages between 24 and 54 showcase a lack of desire in purchasing from the store, which limits the amount of possible revenue Pick ‘n Pay could have generated.</a:t>
            </a:r>
          </a:p>
          <a:p>
            <a:pPr>
              <a:buFont typeface="Arial" panose="020B0604020202020204" pitchFamily="34" charset="0"/>
              <a:buChar char="•"/>
            </a:pPr>
            <a:r>
              <a:rPr lang="en-ZA" dirty="0"/>
              <a:t>The relationship between the customers aged 24-54 and customer availability showcases a clear result, which can be referenced in the dashboard (Customer Demographic Analysis). This relationship shows that ages 24-54 contribute less to the annual gross earnings. This age group is known to be in their productive years, which decreases their availability. </a:t>
            </a:r>
          </a:p>
          <a:p>
            <a:pPr>
              <a:buFont typeface="Arial" panose="020B0604020202020204" pitchFamily="34" charset="0"/>
              <a:buChar char="•"/>
            </a:pPr>
            <a:endParaRPr lang="en-ZA" dirty="0"/>
          </a:p>
          <a:p>
            <a:pPr>
              <a:buFont typeface="Arial" panose="020B0604020202020204" pitchFamily="34" charset="0"/>
              <a:buChar char="•"/>
            </a:pPr>
            <a:endParaRPr lang="en-ZA" dirty="0"/>
          </a:p>
          <a:p>
            <a:pPr>
              <a:buFont typeface="Arial" panose="020B0604020202020204" pitchFamily="34" charset="0"/>
              <a:buChar char="•"/>
            </a:pPr>
            <a:endParaRPr lang="en-ZA" dirty="0"/>
          </a:p>
        </p:txBody>
      </p:sp>
    </p:spTree>
    <p:extLst>
      <p:ext uri="{BB962C8B-B14F-4D97-AF65-F5344CB8AC3E}">
        <p14:creationId xmlns:p14="http://schemas.microsoft.com/office/powerpoint/2010/main" val="82128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7D0AF-BF78-2989-45D7-737A176FE325}"/>
              </a:ext>
            </a:extLst>
          </p:cNvPr>
          <p:cNvSpPr>
            <a:spLocks noGrp="1"/>
          </p:cNvSpPr>
          <p:nvPr>
            <p:ph type="title"/>
          </p:nvPr>
        </p:nvSpPr>
        <p:spPr/>
        <p:txBody>
          <a:bodyPr/>
          <a:lstStyle/>
          <a:p>
            <a:r>
              <a:rPr lang="en-ZA" dirty="0"/>
              <a:t>7. Conclusion</a:t>
            </a:r>
          </a:p>
        </p:txBody>
      </p:sp>
      <p:sp>
        <p:nvSpPr>
          <p:cNvPr id="3" name="Content Placeholder 2">
            <a:extLst>
              <a:ext uri="{FF2B5EF4-FFF2-40B4-BE49-F238E27FC236}">
                <a16:creationId xmlns:a16="http://schemas.microsoft.com/office/drawing/2014/main" id="{48498CE9-F6BF-F162-20C9-37C0C93BC7EF}"/>
              </a:ext>
            </a:extLst>
          </p:cNvPr>
          <p:cNvSpPr>
            <a:spLocks noGrp="1"/>
          </p:cNvSpPr>
          <p:nvPr>
            <p:ph idx="1"/>
          </p:nvPr>
        </p:nvSpPr>
        <p:spPr/>
        <p:txBody>
          <a:bodyPr>
            <a:normAutofit fontScale="92500" lnSpcReduction="10000"/>
          </a:bodyPr>
          <a:lstStyle/>
          <a:p>
            <a:r>
              <a:rPr lang="en-ZA" b="1" u="sng" dirty="0"/>
              <a:t>Main Findings : </a:t>
            </a:r>
          </a:p>
          <a:p>
            <a:r>
              <a:rPr lang="en-ZA" sz="1500" i="1" dirty="0"/>
              <a:t>- The most purchased product category was clothing</a:t>
            </a:r>
          </a:p>
          <a:p>
            <a:r>
              <a:rPr lang="en-ZA" sz="1500" i="1" dirty="0"/>
              <a:t>- 64-year-olds are the main contributors to the annual gross earnings of </a:t>
            </a:r>
            <a:r>
              <a:rPr lang="en-ZA" sz="1500" i="1" dirty="0" err="1"/>
              <a:t>Pick’n</a:t>
            </a:r>
            <a:r>
              <a:rPr lang="en-ZA" sz="1500" i="1" dirty="0"/>
              <a:t> Pay </a:t>
            </a:r>
          </a:p>
          <a:p>
            <a:r>
              <a:rPr lang="en-ZA" sz="1500" i="1" dirty="0"/>
              <a:t>- Customer availability directly affects gross annual earnings </a:t>
            </a:r>
          </a:p>
          <a:p>
            <a:pPr>
              <a:buFontTx/>
              <a:buChar char="-"/>
            </a:pPr>
            <a:r>
              <a:rPr lang="en-ZA" b="1" u="sng" dirty="0"/>
              <a:t>Answer to Problem:</a:t>
            </a:r>
          </a:p>
          <a:p>
            <a:pPr marL="0" indent="0">
              <a:buNone/>
            </a:pPr>
            <a:r>
              <a:rPr lang="en-ZA" dirty="0"/>
              <a:t>The causes of the inconsistent sales performance in Pick ‘n Pay are :</a:t>
            </a:r>
          </a:p>
          <a:p>
            <a:pPr>
              <a:buFontTx/>
              <a:buChar char="-"/>
            </a:pPr>
            <a:r>
              <a:rPr lang="en-ZA" sz="1400" i="1" dirty="0"/>
              <a:t>Customer availability affects the increase in potential revenue.</a:t>
            </a:r>
          </a:p>
          <a:p>
            <a:pPr>
              <a:buFontTx/>
              <a:buChar char="-"/>
            </a:pPr>
            <a:r>
              <a:rPr lang="en-ZA" sz="1400" i="1" dirty="0"/>
              <a:t>Product performance remains inconsistent through the entire work week.</a:t>
            </a:r>
          </a:p>
          <a:p>
            <a:pPr>
              <a:buFontTx/>
              <a:buChar char="-"/>
            </a:pPr>
            <a:r>
              <a:rPr lang="en-ZA" sz="1400" i="1" dirty="0"/>
              <a:t>Pick ‘n Pay has failed to optimize its trade strategies, which causes it to put equal effort on both highly and low-productive business days  </a:t>
            </a:r>
          </a:p>
          <a:p>
            <a:pPr>
              <a:buFontTx/>
              <a:buChar char="-"/>
            </a:pPr>
            <a:endParaRPr lang="en-ZA" dirty="0"/>
          </a:p>
        </p:txBody>
      </p:sp>
    </p:spTree>
    <p:extLst>
      <p:ext uri="{BB962C8B-B14F-4D97-AF65-F5344CB8AC3E}">
        <p14:creationId xmlns:p14="http://schemas.microsoft.com/office/powerpoint/2010/main" val="185401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02C1EF-3060-45D0-928A-4797D11B0944}"/>
              </a:ext>
            </a:extLst>
          </p:cNvPr>
          <p:cNvSpPr txBox="1"/>
          <p:nvPr/>
        </p:nvSpPr>
        <p:spPr>
          <a:xfrm>
            <a:off x="562947" y="335901"/>
            <a:ext cx="11066106" cy="4893647"/>
          </a:xfrm>
          <a:prstGeom prst="rect">
            <a:avLst/>
          </a:prstGeom>
          <a:noFill/>
        </p:spPr>
        <p:txBody>
          <a:bodyPr wrap="square" rtlCol="0">
            <a:spAutoFit/>
          </a:bodyPr>
          <a:lstStyle/>
          <a:p>
            <a:r>
              <a:rPr lang="en-ZA" sz="2400" b="1" u="sng" dirty="0"/>
              <a:t>Recommendations </a:t>
            </a:r>
          </a:p>
          <a:p>
            <a:pPr marL="342900" indent="-342900">
              <a:buFont typeface="Arial" panose="020B0604020202020204" pitchFamily="34" charset="0"/>
              <a:buChar char="•"/>
            </a:pPr>
            <a:r>
              <a:rPr lang="en-ZA" sz="2400" dirty="0"/>
              <a:t>Organize more promotions during the weekends and short periods after customer pay days, to maximise the potential trade flow.</a:t>
            </a:r>
          </a:p>
          <a:p>
            <a:pPr marL="342900" indent="-342900">
              <a:buFont typeface="Arial" panose="020B0604020202020204" pitchFamily="34" charset="0"/>
              <a:buChar char="•"/>
            </a:pPr>
            <a:r>
              <a:rPr lang="en-ZA" sz="2400" dirty="0"/>
              <a:t>Increase the amount of stock/inventory during planned promotion days; this ensures that there will be no possibility of stock running out, which will halt proceedings. </a:t>
            </a:r>
          </a:p>
          <a:p>
            <a:pPr marL="342900" indent="-342900">
              <a:buFont typeface="Arial" panose="020B0604020202020204" pitchFamily="34" charset="0"/>
              <a:buChar char="•"/>
            </a:pPr>
            <a:r>
              <a:rPr lang="en-ZA" sz="2400" dirty="0"/>
              <a:t>Reduce the number of allocated staff working during weekdays to save more money due to lower customer activity.</a:t>
            </a:r>
          </a:p>
          <a:p>
            <a:pPr marL="342900" indent="-342900">
              <a:buFont typeface="Arial" panose="020B0604020202020204" pitchFamily="34" charset="0"/>
              <a:buChar char="•"/>
            </a:pPr>
            <a:r>
              <a:rPr lang="en-ZA" sz="2400" dirty="0"/>
              <a:t>Invest in influencers, who will promote products to the youth ( as the youth are known to use social media more than other age groups). This pulls in more young customers to the store, leading to more profits.</a:t>
            </a:r>
          </a:p>
          <a:p>
            <a:pPr marL="342900" indent="-342900">
              <a:buFont typeface="Arial" panose="020B0604020202020204" pitchFamily="34" charset="0"/>
              <a:buChar char="•"/>
            </a:pPr>
            <a:endParaRPr lang="en-ZA" sz="2400" dirty="0"/>
          </a:p>
          <a:p>
            <a:endParaRPr lang="en-ZA" sz="2400" dirty="0"/>
          </a:p>
        </p:txBody>
      </p:sp>
    </p:spTree>
    <p:extLst>
      <p:ext uri="{BB962C8B-B14F-4D97-AF65-F5344CB8AC3E}">
        <p14:creationId xmlns:p14="http://schemas.microsoft.com/office/powerpoint/2010/main" val="521069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4000" dirty="0">
                <a:latin typeface="Perpetua Titling MT" panose="02020502060505020804" pitchFamily="18" charset="0"/>
              </a:rPr>
              <a:t>“Success is not final; failure is not fatal: it is the courage to continue that counts.” </a:t>
            </a:r>
            <a:endParaRPr lang="en-US" sz="4000" i="1" dirty="0">
              <a:solidFill>
                <a:srgbClr val="FFFFFF"/>
              </a:solidFill>
              <a:latin typeface="Perpetua Titling MT" panose="02020502060505020804" pitchFamily="18" charset="0"/>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 </a:t>
            </a:r>
            <a:r>
              <a:rPr lang="en-US" sz="2400" dirty="0">
                <a:solidFill>
                  <a:schemeClr val="bg1">
                    <a:lumMod val="95000"/>
                  </a:schemeClr>
                </a:solidFill>
                <a:latin typeface="Perpetua Titling MT" panose="02020502060505020804" pitchFamily="18" charset="0"/>
              </a:rPr>
              <a:t>Winston Churchill</a:t>
            </a:r>
            <a:endParaRPr lang="en-US" dirty="0">
              <a:solidFill>
                <a:schemeClr val="bg1">
                  <a:lumMod val="95000"/>
                </a:schemeClr>
              </a:solidFill>
            </a:endParaRPr>
          </a:p>
        </p:txBody>
      </p:sp>
    </p:spTree>
    <p:extLst>
      <p:ext uri="{BB962C8B-B14F-4D97-AF65-F5344CB8AC3E}">
        <p14:creationId xmlns:p14="http://schemas.microsoft.com/office/powerpoint/2010/main" val="191714609"/>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{4F6179E5-A9C3-4E85-9357-3F856BAD94C3}TFf0a5ceae-4542-492d-822e-d65a94fb0e1e3b562c5a_win32-009a0557e699</Template>
  <TotalTime>815</TotalTime>
  <Words>1685</Words>
  <Application>Microsoft Office PowerPoint</Application>
  <PresentationFormat>Widescreen</PresentationFormat>
  <Paragraphs>148</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Bookman Old Style</vt:lpstr>
      <vt:lpstr>Calibri</vt:lpstr>
      <vt:lpstr>Franklin Gothic Book</vt:lpstr>
      <vt:lpstr>Inter</vt:lpstr>
      <vt:lpstr>Perpetua Titling MT</vt:lpstr>
      <vt:lpstr>Roboto</vt:lpstr>
      <vt:lpstr>Custom</vt:lpstr>
      <vt:lpstr>Pick ‘n Pay Retail Sales: Revenue Optimization </vt:lpstr>
      <vt:lpstr>Index:</vt:lpstr>
      <vt:lpstr>1.Executive Summary</vt:lpstr>
      <vt:lpstr>2.Introduction</vt:lpstr>
      <vt:lpstr>3. Methodology</vt:lpstr>
      <vt:lpstr>4. Results</vt:lpstr>
      <vt:lpstr>PowerPoint Presentation</vt:lpstr>
      <vt:lpstr>PowerPoint Presentation</vt:lpstr>
      <vt:lpstr>PowerPoint Presentation</vt:lpstr>
      <vt:lpstr>5. Dashboard</vt:lpstr>
      <vt:lpstr>PowerPoint Presentation</vt:lpstr>
      <vt:lpstr>PowerPoint Presentation</vt:lpstr>
      <vt:lpstr>PowerPoint Presentation</vt:lpstr>
      <vt:lpstr>PowerPoint Presentation</vt:lpstr>
      <vt:lpstr>6. Discussion</vt:lpstr>
      <vt:lpstr>Sales inconsistency </vt:lpstr>
      <vt:lpstr>Gender and Age Inconsistency</vt:lpstr>
      <vt:lpstr>7. Conclusion</vt:lpstr>
      <vt:lpstr>PowerPoint Presentation</vt:lpstr>
      <vt:lpstr>“Success is not final; failure is not fatal: it is the courage to continue that counts.”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Siyabonga Mofokeng</dc:creator>
  <cp:lastModifiedBy>Siyabonga Mofokeng</cp:lastModifiedBy>
  <cp:revision>2</cp:revision>
  <dcterms:created xsi:type="dcterms:W3CDTF">2026-04-22T19:41:33Z</dcterms:created>
  <dcterms:modified xsi:type="dcterms:W3CDTF">2026-04-23T18:10:58Z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